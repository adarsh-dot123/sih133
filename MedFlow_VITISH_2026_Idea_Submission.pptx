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3840480" cy="411480"/>
          </a:xfrm>
          <a:prstGeom prst="roundRect">
            <a:avLst/>
          </a:prstGeom>
          <a:solidFill>
            <a:srgbClr val="042F2E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VITISH 2026 • SIH INTERNAL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MedFlow</a:t>
            </a:r>
          </a:p>
          <a:p>
            <a:pPr>
              <a:spcBef>
                <a:spcPts val="600"/>
              </a:spcBef>
              <a:defRPr sz="2200" b="1">
                <a:solidFill>
                  <a:srgbClr val="0D9488"/>
                </a:solidFill>
                <a:latin typeface="Arial"/>
              </a:defRPr>
            </a:pPr>
            <a:r>
              <a:t>Real-Time Predictive Hospital Resource &amp; Bed Turnover Platform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Proactive 12–24h Inpatient Bed Turnover Engine • Specialty-Aware Referral • ABDM/FHIR • Rural USSD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Hospital Bed &amp; Resource Optimisation Platform</a:t>
            </a:r>
            <a:br/>
            <a:r>
              <a:t>Category: Software | Theme: Healthcare / MedTech</a:t>
            </a:r>
            <a:br/>
            <a:r>
              <a:t>PS ID: [Insert PS ID]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PRIMARY INNOVATION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Predictive Bed Turnover Engine (ML)</a:t>
            </a:r>
            <a:br/>
            <a:r>
              <a:t>Discharge likelihood forecast 12–24h in advance</a:t>
            </a:r>
            <a:br/>
            <a:r>
              <a:t>Reduces emergency hospital-hopping by 35–45%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93192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TEAM INFORMATION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Team Name: [Insert Team Name]</a:t>
            </a:r>
            <a:br/>
            <a:r>
              <a:t>Team Leader: [Insert Leader Name]</a:t>
            </a:r>
            <a:br/>
            <a:r>
              <a:t>Institute: Vellore Institute of Technology (VIT)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Arial"/>
              </a:defRPr>
            </a:pPr>
            <a:r>
              <a:t>MedFlow — Proposed Solution &amp; Value Proposition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Three-Layer Systems Architecture solving healthcare information asymmetry across India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0D9488"/>
                </a:solidFill>
                <a:latin typeface="Arial"/>
              </a:defRPr>
            </a:pPr>
            <a:r>
              <a:t>PROPOSED SOLUTION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Unified 3-Stakeholder Network: </a:t>
            </a:r>
            <a:r>
              <a:rPr sz="1100">
                <a:solidFill>
                  <a:srgbClr val="1E293B"/>
                </a:solidFill>
              </a:rPr>
              <a:t>Synchronizes Patients/Families, Hospital Staff, and District/State Administrators in real time.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Predictive Bed Turnover Engine: </a:t>
            </a:r>
            <a:r>
              <a:rPr sz="1100">
                <a:solidFill>
                  <a:srgbClr val="1E293B"/>
                </a:solidFill>
              </a:rPr>
              <a:t>Primary technical differentiator forecasting freed beds 12–24h ahead using ML Length-of-Stay modeling.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Smart Specialty-Aware Referral: </a:t>
            </a:r>
            <a:r>
              <a:rPr sz="1100">
                <a:solidFill>
                  <a:srgbClr val="1E293B"/>
                </a:solidFill>
              </a:rPr>
              <a:t>Multi-factor algorithm matching patients by specialty (e.g. Cardiac ICU vs Pediatric ICU), distance, and PMJAY.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Government Command Center: </a:t>
            </a:r>
            <a:r>
              <a:rPr sz="1100">
                <a:solidFill>
                  <a:srgbClr val="1E293B"/>
                </a:solidFill>
              </a:rPr>
              <a:t>Statewide GIS heatmap, automated shortage alerts (&lt;10% ICU free), and inter-district reallocation.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• Rural Inclusivity Fallback: </a:t>
            </a:r>
            <a:r>
              <a:rPr sz="1100">
                <a:solidFill>
                  <a:srgbClr val="1E293B"/>
                </a:solidFill>
              </a:rPr>
              <a:t>USSD (*999#) and SMS search for 2G feature-phone users in rural and low-connectivity regions.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4F46E5"/>
                </a:solidFill>
                <a:latin typeface="Arial"/>
              </a:defRPr>
            </a:pPr>
            <a:r>
              <a:t>THREE-LAYER PROBLEM &amp; INNOVATION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F46E5"/>
                </a:solidFill>
              </a:rPr>
              <a:t>✔ Patient Layer: </a:t>
            </a:r>
            <a:r>
              <a:rPr sz="1100">
                <a:solidFill>
                  <a:srgbClr val="1E293B"/>
                </a:solidFill>
              </a:rPr>
              <a:t>Eliminates blind hospital hopping during Golden Hour with live bed, ICU, oxygen, and ambulance tracking.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F46E5"/>
                </a:solidFill>
              </a:rPr>
              <a:t>✔ Hospital Layer: </a:t>
            </a:r>
            <a:r>
              <a:rPr sz="1100">
                <a:solidFill>
                  <a:srgbClr val="1E293B"/>
                </a:solidFill>
              </a:rPr>
              <a:t>Replaces manual registers with 1-click ward toggles, non-HMS shift handovers, and ML discharge readiness.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F46E5"/>
                </a:solidFill>
              </a:rPr>
              <a:t>✔ State Layer: </a:t>
            </a:r>
            <a:r>
              <a:rPr sz="1100">
                <a:solidFill>
                  <a:srgbClr val="1E293B"/>
                </a:solidFill>
              </a:rPr>
              <a:t>Real-time aggregated telemetry prevents black-marketing, optimizes bulk oxygen, and coordinates mass casualties.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F46E5"/>
                </a:solidFill>
              </a:rPr>
              <a:t>✔ ABDM &amp; FHIR R4: </a:t>
            </a:r>
            <a:r>
              <a:rPr sz="1100">
                <a:solidFill>
                  <a:srgbClr val="1E293B"/>
                </a:solidFill>
              </a:rPr>
              <a:t>Native generation of interoperable HL7 FHIR R4 Document Bundles linked to 14-digit ABHA Health IDs.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F46E5"/>
                </a:solidFill>
              </a:rPr>
              <a:t>✔ Blockchain Audit Trail: </a:t>
            </a:r>
            <a:r>
              <a:rPr sz="1100">
                <a:solidFill>
                  <a:srgbClr val="1E293B"/>
                </a:solidFill>
              </a:rPr>
              <a:t>Cryptographic SHA-256 hash chaining on all bed/oxygen changes for complete anti-tamper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Arial"/>
              </a:defRPr>
            </a:pPr>
            <a:r>
              <a:t>Technical Approach, Tech Stack &amp; Workflow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Modular microservices architecture, Scikit-Learn ML pipeline, and real-time WebSockets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50" b="1">
                <a:solidFill>
                  <a:srgbClr val="0D9488"/>
                </a:solidFill>
                <a:latin typeface="Arial"/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React 18 + TypeScript (Vite)</a:t>
            </a:r>
            <a:br/>
            <a:r>
              <a:t>Vanilla CSS Design System</a:t>
            </a:r>
            <a:br/>
            <a:r>
              <a:t>Leaflet GIS Route Mapping</a:t>
            </a:r>
            <a:br/>
            <a:r>
              <a:t>Flutter Mobile App / PWA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37160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50" b="1">
                <a:solidFill>
                  <a:srgbClr val="4F46E5"/>
                </a:solidFill>
                <a:latin typeface="Arial"/>
              </a:defRPr>
            </a:pPr>
            <a:r>
              <a:t>BACKEND API &amp; WS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FastAPI (Python 3.13) / Node.js</a:t>
            </a:r>
            <a:br/>
            <a:r>
              <a:t>Async REST Endpoints</a:t>
            </a:r>
            <a:br/>
            <a:r>
              <a:t>WebSockets (/ws/live) &lt;100ms</a:t>
            </a:r>
            <a:br/>
            <a:r>
              <a:t>JWT Auth + Native Bcrypt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37160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50" b="1">
                <a:solidFill>
                  <a:srgbClr val="059669"/>
                </a:solidFill>
                <a:latin typeface="Arial"/>
              </a:defRPr>
            </a:pPr>
            <a:r>
              <a:t>PREDICTIVE ML ENGINE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Scikit-Learn Random Forest</a:t>
            </a:r>
            <a:br/>
            <a:r>
              <a:t>Gradient Boosting LOS Regressor</a:t>
            </a:r>
            <a:br/>
            <a:r>
              <a:t>10 Clinical Feature Extraction</a:t>
            </a:r>
            <a:br/>
            <a:r>
              <a:t>12h &amp; 24h Ward Capacity Rollup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37160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42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050" b="1">
                <a:solidFill>
                  <a:srgbClr val="042F2E"/>
                </a:solidFill>
                <a:latin typeface="Arial"/>
              </a:defRPr>
            </a:pPr>
            <a:r>
              <a:t>DATABASE &amp; STANDARDS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Arial"/>
              </a:defRPr>
            </a:pPr>
            <a:r>
              <a:t>PostgreSQL / SQLAlchemy ORM</a:t>
            </a:r>
            <a:br/>
            <a:r>
              <a:t>Redis Real-time Cache</a:t>
            </a:r>
            <a:br/>
            <a:r>
              <a:t>ABDM APIs + HL7 FHIR R4</a:t>
            </a:r>
            <a:br/>
            <a:r>
              <a:t>Docker Compose &amp; MeghRaj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DD4BF"/>
                </a:solidFill>
                <a:latin typeface="Arial"/>
              </a:defRPr>
            </a:pPr>
            <a:r>
              <a:t>PRIMARY END-TO-END DEMO WORKFLOW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1. Patient Searches Emergency Care → MedFlow evaluates real-time capacity and predicted 12h/24h bed gains.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2. Specialty-Aware Referral Matcher → Computes Score: 35% Specialty + 25% Beds + 15% Pred 12h + 15% Proximity + 10% PMJAY.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3. Live Ambulance Routing → System assigns nearest ambulance, renders GIS route, and transmits pre-arrival telemetry.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4. Bed Status Toggle &amp; Handover → Hospital staff marks bed occupied/free via 1-click non-HMS toggle (&lt;30s).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5. WebSocket Broadcast &amp; Recalculation → Live updates propagate instantly (&lt;100ms) to State Command Center &amp; Patient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Arial"/>
              </a:defRPr>
            </a:pPr>
            <a:r>
              <a:t>Feasibility, Viability &amp; Operational Adoption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Overcoming real-world healthcare constraints, non-HMS facilities, and regulatory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0D9488"/>
                </a:solidFill>
                <a:latin typeface="Arial"/>
              </a:defRPr>
            </a:pPr>
            <a:r>
              <a:t>TECHNICAL FEASIBILITY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Low-Latency Inference: </a:t>
            </a:r>
            <a:r>
              <a:rPr sz="1050">
                <a:solidFill>
                  <a:srgbClr val="1E293B"/>
                </a:solidFill>
              </a:rPr>
              <a:t>Lightweight Scikit-Learn models execute predictions in &lt;15ms per patient record.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High-Throughput WebSockets: </a:t>
            </a:r>
            <a:r>
              <a:rPr sz="1050">
                <a:solidFill>
                  <a:srgbClr val="1E293B"/>
                </a:solidFill>
              </a:rPr>
              <a:t>Async FastAPI backend broadcasts state deltas with sub-100ms latency.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Graceful Degradation: </a:t>
            </a:r>
            <a:r>
              <a:rPr sz="1050">
                <a:solidFill>
                  <a:srgbClr val="1E293B"/>
                </a:solidFill>
              </a:rPr>
              <a:t>Web Portal → Mobile PWA → 2G USSD (*999#) and SMS query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4F46E5"/>
                </a:solidFill>
                <a:latin typeface="Arial"/>
              </a:defRPr>
            </a:pPr>
            <a:r>
              <a:t>OPERATIONAL ADOPTION (NON-HMS)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Zero-Barrier Onboarding: </a:t>
            </a:r>
            <a:r>
              <a:rPr sz="1050">
                <a:solidFill>
                  <a:srgbClr val="1E293B"/>
                </a:solidFill>
              </a:rPr>
              <a:t>Hospitals without complex HMS utilize the Non-HMS Staff Quick Toggle Mode.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Shift Handover Batching: </a:t>
            </a:r>
            <a:r>
              <a:rPr sz="1050">
                <a:solidFill>
                  <a:srgbClr val="1E293B"/>
                </a:solidFill>
              </a:rPr>
              <a:t>Ward nurses update entire wards in under 30 seconds during shift changes.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IoT Auto-Sensing: </a:t>
            </a:r>
            <a:r>
              <a:rPr sz="1050">
                <a:solidFill>
                  <a:srgbClr val="1E293B"/>
                </a:solidFill>
              </a:rPr>
              <a:t>Smart sensors on cryogenic tanks and bed load cells eliminate manual entry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0144" y="1371600"/>
            <a:ext cx="34747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REGULATORY &amp; NATIONAL ALIGNMENT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MeghRaj (GI Cloud) Ready: </a:t>
            </a:r>
            <a:r>
              <a:rPr sz="1050">
                <a:solidFill>
                  <a:srgbClr val="1E293B"/>
                </a:solidFill>
              </a:rPr>
              <a:t>Containerized microservices deployable directly on NIC Government of India Cloud.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ABDM Standards: </a:t>
            </a:r>
            <a:r>
              <a:rPr sz="1050">
                <a:solidFill>
                  <a:srgbClr val="1E293B"/>
                </a:solidFill>
              </a:rPr>
              <a:t>Produces standard HL7 FHIR R4 document bundles linked to 14-digit citizen ABHA IDs.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1E293B"/>
                </a:solidFill>
              </a:rPr>
              <a:t>• Tamper-Proof Audit: </a:t>
            </a:r>
            <a:r>
              <a:rPr sz="1050">
                <a:solidFill>
                  <a:srgbClr val="1E293B"/>
                </a:solidFill>
              </a:rPr>
              <a:t>SHA-256 cryptographic hash chaining prevents resource manipulation and hoarding.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Arial"/>
              </a:defRPr>
            </a:pPr>
            <a:r>
              <a:t>Measurable Impact &amp; National Health Benefits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Quantifiable reductions in emergency transit mortality, hospital turnover gains, and rural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800" b="1">
                <a:solidFill>
                  <a:srgbClr val="E11D48"/>
                </a:solidFill>
                <a:latin typeface="Arial"/>
              </a:defRPr>
            </a:pPr>
            <a:r>
              <a:t>35–45%</a:t>
            </a:r>
          </a:p>
          <a:p>
            <a:pPr>
              <a:defRPr sz="1050" b="1">
                <a:solidFill>
                  <a:srgbClr val="1E293B"/>
                </a:solidFill>
                <a:latin typeface="Arial"/>
              </a:defRPr>
            </a:pPr>
            <a:r>
              <a:t>Reduction in Golden Hour Loss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By eliminating blind hospital bouncing via specialty-aware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371600"/>
            <a:ext cx="256032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800" b="1">
                <a:solidFill>
                  <a:srgbClr val="0D9488"/>
                </a:solidFill>
                <a:latin typeface="Arial"/>
              </a:defRPr>
            </a:pPr>
            <a:r>
              <a:t>20–30%</a:t>
            </a:r>
          </a:p>
          <a:p>
            <a:pPr>
              <a:defRPr sz="1050" b="1">
                <a:solidFill>
                  <a:srgbClr val="1E293B"/>
                </a:solidFill>
                <a:latin typeface="Arial"/>
              </a:defRPr>
            </a:pPr>
            <a:r>
              <a:t>Increase in Bed Turnover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Enabled by 12–24h discharge foresight for elective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371600"/>
            <a:ext cx="256032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800" b="1">
                <a:solidFill>
                  <a:srgbClr val="4F46E5"/>
                </a:solidFill>
                <a:latin typeface="Arial"/>
              </a:defRPr>
            </a:pPr>
            <a:r>
              <a:t>&lt; 10%</a:t>
            </a:r>
          </a:p>
          <a:p>
            <a:pPr>
              <a:defRPr sz="1050" b="1">
                <a:solidFill>
                  <a:srgbClr val="1E293B"/>
                </a:solidFill>
                <a:latin typeface="Arial"/>
              </a:defRPr>
            </a:pPr>
            <a:r>
              <a:t>ICU Shortage Threshold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Automated early warning flags trigger inter-district reallocation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371600"/>
            <a:ext cx="256032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2800" b="1">
                <a:solidFill>
                  <a:srgbClr val="059669"/>
                </a:solidFill>
                <a:latin typeface="Arial"/>
              </a:defRPr>
            </a:pPr>
            <a:r>
              <a:t>65%+</a:t>
            </a:r>
          </a:p>
          <a:p>
            <a:pPr>
              <a:defRPr sz="1050" b="1">
                <a:solidFill>
                  <a:srgbClr val="1E293B"/>
                </a:solidFill>
                <a:latin typeface="Arial"/>
              </a:defRPr>
            </a:pPr>
            <a:r>
              <a:t>Rural Citizen Inclusivity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Full offline access via USSD (*999#) &amp; SMS on 2G feature phones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728655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0D9488"/>
                </a:solidFill>
                <a:latin typeface="Arial"/>
              </a:defRPr>
            </a:pPr>
            <a:r>
              <a:t>SOCIETAL, CLINICAL &amp; ADMINISTRATIVE BENEFITS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✔ Clinical Triage &amp; Golden Hour: </a:t>
            </a:r>
            <a:r>
              <a:rPr sz="1050">
                <a:solidFill>
                  <a:srgbClr val="1E293B"/>
                </a:solidFill>
              </a:rPr>
              <a:t>Specialty matching ensures stroke, cardiac, and trauma emergencies arrive at equipped facilities on the first attempt.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✔ Hospital Stress Relief: </a:t>
            </a:r>
            <a:r>
              <a:rPr sz="1050">
                <a:solidFill>
                  <a:srgbClr val="1E293B"/>
                </a:solidFill>
              </a:rPr>
              <a:t>Replaces chaotic telephone inquiries with automated digital capacity broadcasting, reducing clinician administrative burden.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✔ Epidemic &amp; Disaster Preparedness: </a:t>
            </a:r>
            <a:r>
              <a:rPr sz="1050">
                <a:solidFill>
                  <a:srgbClr val="1E293B"/>
                </a:solidFill>
              </a:rPr>
              <a:t>The Hospital Digital Twin simulates surge scenarios (+20%, +50%), calculating exact hours to ICU depletion and recommending step-down protocols.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✔ Rural India Inclusion: </a:t>
            </a:r>
            <a:r>
              <a:rPr sz="1050">
                <a:solidFill>
                  <a:srgbClr val="1E293B"/>
                </a:solidFill>
              </a:rPr>
              <a:t>Ensures non-smartphone citizens dialling *999# or sending SMS queries receive instant localized emergency hospital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D9488"/>
                </a:solidFill>
                <a:latin typeface="Arial"/>
              </a:defRPr>
            </a:pPr>
            <a:r>
              <a:t>Research, Dependencies &amp; 3-Phase Roadmap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Clinical feature selection, external API integrations, and structured rollout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7253935"/>
              </a:tblGrid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ROADMAP 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DELIVERABLES &amp; MILESTONES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Phase 1: Working Prototype</a:t>
                      </a:r>
                      <a:br/>
                      <a:r>
                        <a:t>(COMPLETED)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Month 1–2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Full-stack FastAPI + React prototype with 100% passing test suite.</a:t>
                      </a:r>
                      <a:br/>
                      <a:r>
                        <a:t>• Pre-trained Scikit-Learn Predictive Bed Turnover ML engine.</a:t>
                      </a:r>
                      <a:br/>
                      <a:r>
                        <a:t>• 16 hospitals seed dataset, real-time WebSockets, Leaflet GPS &amp; USSD simulator.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Phase 2: District Pilot</a:t>
                      </a:r>
                      <a:br/>
                      <a:r>
                        <a:t>(Pilot Validation)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Month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Pilot rollout across 1 district (e.g. Vellore / Chennai) connecting 5 GHs &amp; private HMS.</a:t>
                      </a:r>
                      <a:br/>
                      <a:r>
                        <a:t>• Integration with state 108 Emergency Ambulance dispatch systems.</a:t>
                      </a:r>
                      <a:br/>
                      <a:r>
                        <a:t>• Real-world calibration of Length-of-Stay prediction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Phase 3: Statewide Scaling</a:t>
                      </a:r>
                      <a:br/>
                      <a:r>
                        <a:t>(ABDM Production)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Month 5–6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• Full deployment on MeghRaj (GI Cloud) integrated with State Health Dept.</a:t>
                      </a:r>
                      <a:br/>
                      <a:r>
                        <a:t>• Official ABDM M1/M2/M3 milestone certification &amp; ABHA linking.</a:t>
                      </a:r>
                      <a:br/>
                      <a:r>
                        <a:t>• National rollout of BSNL/DoT rural USSD (*999#) gateway.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RESEARCH BACKING &amp; DEPENDENCIES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Clinical Feature Backing: </a:t>
            </a:r>
            <a:r>
              <a:rPr sz="1000">
                <a:solidFill>
                  <a:srgbClr val="1E293B"/>
                </a:solidFill>
              </a:rPr>
              <a:t>Evaluates 10 features: age, diagnosis category, stay hours, clinical stage (ICU Critical/Step-down/Oral meds), SpO2, HR, MAP, RR, Temp, stability index.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External Gateway Integrations: </a:t>
            </a:r>
            <a:r>
              <a:rPr sz="1000">
                <a:solidFill>
                  <a:srgbClr val="1E293B"/>
                </a:solidFill>
              </a:rPr>
              <a:t>ABDM Sandbox APIs for ABHA linking; National DoT/BSNL telecom gateway for USSD (*999#); OpenStreetMap / MapmyIndia for localized routing.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Risk Mitigation: </a:t>
            </a:r>
            <a:r>
              <a:rPr sz="1000">
                <a:solidFill>
                  <a:srgbClr val="1E293B"/>
                </a:solidFill>
              </a:rPr>
              <a:t>Non-HMS toggle mode solves low HMS adoption; offline SMS/USSD resolves rural connectivity dropouts; SHA-256 audit log eliminates data tampering.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Why MedFlow Wins — Summary</a:t>
            </a:r>
          </a:p>
          <a:p>
            <a:pPr>
              <a:spcBef>
                <a:spcPts val="400"/>
              </a:spcBef>
              <a:defRPr sz="1400">
                <a:solidFill>
                  <a:srgbClr val="0D9488"/>
                </a:solidFill>
                <a:latin typeface="Arial"/>
              </a:defRPr>
            </a:pPr>
            <a:r>
              <a:t>Converting reactive hospital resource management into proactive, predictive national coordination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1. SYSTEM-LEVEL THINKING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Addresses the entire healthcare chain: Patients (search/referral), Hospitals (toggles/ML turnover), and Government (statewide heatmap &amp; reallocation).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10312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2. CLEAR ML DIFFERENTIATOR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12–24h Predictive Bed Turnover Engine with clinical explainability weights outperforms static 'bed counter'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10312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3. INDIA-FIRST DESIGN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Integrated with ABDM/FHIR R4, MeghRaj cloud readiness, Ayushman Bharat (PMJAY), and 2G USSD (*999#) rural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103120"/>
            <a:ext cx="24688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4. WORKING MVP READY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Arial"/>
              </a:defRPr>
            </a:pPr>
            <a:r>
              <a:t>Fully functional prototype with FastAPI, React, Scikit-Learn ML, WebSockets, and 12/12 passing test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69280"/>
            <a:ext cx="10515600" cy="640080"/>
          </a:xfrm>
          <a:prstGeom prst="roundRect">
            <a:avLst/>
          </a:prstGeom>
          <a:solidFill>
            <a:srgbClr val="042F2E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  <a:latin typeface="Arial"/>
              </a:defRPr>
            </a:pPr>
            <a:r>
              <a:t>MedFlow: Empowering India's Healthcare Ecosystem with Real-Time Predictive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